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C2E7BB6-448B-E036-BF81-8D54DF85362D}">
          <p14:sldIdLst>
            <p14:sldId id="256"/>
          </p14:sldIdLst>
        </p14:section>
        <p14:section name="Problem" id="{9E9253E4-D8A6-6412-4806-CF44A9E5A51D}">
          <p14:sldIdLst>
            <p14:sldId id="257"/>
          </p14:sldIdLst>
        </p14:section>
        <p14:section name="Method" id="{D69C0179-DD9B-5474-D164-A0DC945562A0}">
          <p14:sldIdLst>
            <p14:sldId id="258"/>
            <p14:sldId id="259"/>
          </p14:sldIdLst>
        </p14:section>
        <p14:section name="Implementation" id="{5E3CABFA-E749-7D18-CC66-DCA24F45716D}">
          <p14:sldIdLst>
            <p14:sldId id="260"/>
          </p14:sldIdLst>
        </p14:section>
        <p14:section name="Evaluation" id="{09FAC2E4-7F72-295F-B0CB-DCFEC0DC2B95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E3F29F-AB0F-4194-8D5A-F340D1638772}" v="1" dt="2026-10-20T17:52:45.5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Rohit" userId="9afc7c48920bb612" providerId="LiveId" clId="{3046B0BB-3E39-4CB3-8D0B-D978C68C2370}"/>
    <pc:docChg chg="modSld">
      <pc:chgData name="S Rohit" userId="9afc7c48920bb612" providerId="LiveId" clId="{3046B0BB-3E39-4CB3-8D0B-D978C68C2370}" dt="2026-10-20T17:52:54.186" v="133" actId="20577"/>
      <pc:docMkLst>
        <pc:docMk/>
      </pc:docMkLst>
      <pc:sldChg chg="modSp mod">
        <pc:chgData name="S Rohit" userId="9afc7c48920bb612" providerId="LiveId" clId="{3046B0BB-3E39-4CB3-8D0B-D978C68C2370}" dt="2026-10-20T17:52:54.186" v="133" actId="20577"/>
        <pc:sldMkLst>
          <pc:docMk/>
          <pc:sldMk cId="0" sldId="256"/>
        </pc:sldMkLst>
        <pc:spChg chg="mod">
          <ac:chgData name="S Rohit" userId="9afc7c48920bb612" providerId="LiveId" clId="{3046B0BB-3E39-4CB3-8D0B-D978C68C2370}" dt="2026-10-20T17:52:54.186" v="133" actId="20577"/>
          <ac:spMkLst>
            <pc:docMk/>
            <pc:sldMk cId="0" sldId="256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3979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hybrid restaurant recommender for the Indian market. Two things make it different from a textbook hybrid - the fusion weights are learned per user, and every recommendation explains itself. Mention that the system is fully implemented and will be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motivation. The three numbered failures are the textbook weaknesses of each single signal. The card on the right is what makes the Indian market different - dietary rules are hard constraints, not soft preferences. Close on the line at the bottom: the failures are independent, so a hybrid is justified.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 through the five layers. Emphasise layer 4 - that is where the novelty sits, highlighted in green. The equation is the whole method in one line; point at the (u) subscripts. Mention that normalisation is a real engineering decision, not boilerplate.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that the three-signal hybrid is not claimed as novel - it follows Asani et al. The two cards are what is actually new. On card one, stress why non-negativity is a real constraint and not decoration. On card two, note that the cold-start honesty is deliberate.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demo slide - if the live site is available, show it instead and use these as backup. The key moment is the score breakdown on the right: content 40 percent, collaborative 100 percent, hybrid 64 percent, and the arithmetic checks out exactly. Mention the sample-data labelling as a deliberate integrity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evaluation design rather than on numbers. Be upfront that results are pending - the protocol is defined and the models are built, but the notebooks have not been run, so nothing is quoted. State the limitations plainly; examiners respond better to candour than to overclaiming. End on future scope and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2A1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 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743200"/>
            <a:ext cx="9692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700" dirty="0">
                <a:solidFill>
                  <a:srgbClr val="D4A017"/>
                </a:solidFill>
              </a:defRPr>
            </a:lvl1pPr>
          </a:lstStyle>
          <a:p>
            <a:pPr marL="0" indent="0" algn="l">
              <a:buNone/>
            </a:pPr>
            <a:r>
              <a:rPr lang="en-US" sz="1700" dirty="0">
                <a:solidFill>
                  <a:srgbClr val="D4A017"/>
                </a:solidFill>
              </a:rPr>
              <a:t> </a:t>
            </a:r>
            <a:endParaRPr lang="en-US" sz="17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65760"/>
            <a:ext cx="11057839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66928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A58"/>
                </a:solidFill>
              </a:rPr>
              <a:t>IndiaBites  |  CSE4077 Recommender Systems  |  VIT Chennai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6A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bg>
      <p:bgPr>
        <a:solidFill>
          <a:srgbClr val="1440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65760"/>
            <a:ext cx="11057839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 </a:t>
            </a:r>
            <a:endParaRPr lang="en-US" sz="3200" dirty="0"/>
          </a:p>
        </p:txBody>
      </p:sp>
      <p:sp>
        <p:nvSpPr>
          <p:cNvPr id="3" name="Text 0"/>
          <p:cNvSpPr txBox="1"/>
          <p:nvPr/>
        </p:nvSpPr>
        <p:spPr>
          <a:xfrm>
            <a:off x="566928" y="6355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A017"/>
                </a:solidFill>
              </a:rPr>
              <a:t>IndiaBites  |  CSE4077 Recommender Systems  |  VIT Chennai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01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6A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1325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IndiaBites</a:t>
            </a:r>
            <a:endParaRPr lang="en-US" sz="4400" dirty="0"/>
          </a:p>
        </p:txBody>
      </p:sp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822960" y="2743200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D4A017"/>
                </a:solidFill>
              </a:rPr>
              <a:t>An Explainable Hybrid Restaurant Recommendation System with Personalised Fusion Weights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79476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BCAD"/>
                </a:solidFill>
              </a:rPr>
              <a:t>MTech Integrated CSE (Business Analytics)  ·  CSE4077 Recommender Systems  ·  Slot A1+TA1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330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9C8C7C"/>
                </a:solidFill>
              </a:rPr>
              <a:t>Presented by:  </a:t>
            </a:r>
            <a:r>
              <a:rPr lang="en-US" sz="1300" dirty="0">
                <a:solidFill>
                  <a:srgbClr val="FFFFFF"/>
                </a:solidFill>
              </a:rPr>
              <a:t>&lt;S ROHIT – 23MIA1175&gt;   ·   &lt;MRIDULA S– 23MIA1004&gt;   ·   &lt; FEDRICK ENGELS – 23MIA1082&gt;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471416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8C7C"/>
                </a:solidFill>
              </a:rPr>
              <a:t>Faculty Mentor:  </a:t>
            </a:r>
            <a:r>
              <a:rPr lang="en-US" sz="1300" dirty="0">
                <a:solidFill>
                  <a:srgbClr val="FFFFFF"/>
                </a:solidFill>
              </a:rPr>
              <a:t>Dr S Vigneshwari (54147)</a:t>
            </a:r>
            <a:r>
              <a:rPr lang="en-US" sz="1300" dirty="0">
                <a:solidFill>
                  <a:srgbClr val="9C8C7C"/>
                </a:solidFill>
              </a:rPr>
              <a:t>      School of Computer Science and Engineering, VIT Chennai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38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722"/>
                </a:solidFill>
              </a:rPr>
              <a:t>12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596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BCAD"/>
                </a:solidFill>
              </a:rPr>
              <a:t>Indian cities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953512" y="5138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722"/>
                </a:solidFill>
              </a:rPr>
              <a:t>19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953512" y="5596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BCAD"/>
                </a:solidFill>
              </a:rPr>
              <a:t>Cuisine types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084064" y="5138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722"/>
                </a:solidFill>
              </a:rPr>
              <a:t>9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084064" y="5596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BCAD"/>
                </a:solidFill>
              </a:rPr>
              <a:t>Models trained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214616" y="5138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722"/>
                </a:solidFill>
              </a:rPr>
              <a:t>7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7214616" y="5596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BCAD"/>
                </a:solidFill>
              </a:rPr>
              <a:t>Evaluation metrics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345168" y="513892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722"/>
                </a:solidFill>
              </a:rPr>
              <a:t>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345168" y="55961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BCAD"/>
                </a:solidFill>
              </a:rPr>
              <a:t>Datasets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657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Why single-signal recommenders fail here</a:t>
            </a:r>
            <a:endParaRPr lang="en-US" sz="3200" dirty="0"/>
          </a:p>
        </p:txBody>
      </p:sp>
      <p:sp>
        <p:nvSpPr>
          <p:cNvPr id="3" name="fail-dot-0"/>
          <p:cNvSpPr/>
          <p:nvPr/>
        </p:nvSpPr>
        <p:spPr>
          <a:xfrm>
            <a:off x="566928" y="1417320"/>
            <a:ext cx="420624" cy="420624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66928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170432" y="132588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5E12"/>
                </a:solidFill>
              </a:rPr>
              <a:t>Cold start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170432" y="1655064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A newly registered diner has no rating history, so the collaborative signal is not weak — it is mathematically undefined.</a:t>
            </a:r>
            <a:endParaRPr lang="en-US" sz="1350" dirty="0"/>
          </a:p>
        </p:txBody>
      </p:sp>
      <p:sp>
        <p:nvSpPr>
          <p:cNvPr id="7" name="fail-dot-1"/>
          <p:cNvSpPr/>
          <p:nvPr/>
        </p:nvSpPr>
        <p:spPr>
          <a:xfrm>
            <a:off x="566928" y="2633472"/>
            <a:ext cx="420624" cy="420624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26334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170432" y="25420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5E12"/>
                </a:solidFill>
              </a:rPr>
              <a:t>Overspecialisation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2871216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Content-based filtering keeps proposing what has already been eaten, so genuine discovery is suppressed.</a:t>
            </a:r>
            <a:endParaRPr lang="en-US" sz="1350" dirty="0"/>
          </a:p>
        </p:txBody>
      </p:sp>
      <p:sp>
        <p:nvSpPr>
          <p:cNvPr id="11" name="fail-dot-2"/>
          <p:cNvSpPr/>
          <p:nvPr/>
        </p:nvSpPr>
        <p:spPr>
          <a:xfrm>
            <a:off x="566928" y="3849624"/>
            <a:ext cx="420624" cy="420624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" y="3849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170432" y="375818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45E12"/>
                </a:solidFill>
              </a:rPr>
              <a:t>Hidden dissatisfaction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170432" y="4087368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chemeClr val="tx1"/>
                </a:solidFill>
              </a:rPr>
              <a:t>A four-star rating conceals review text describing inconsistent service; the star alone discards that signal.</a:t>
            </a:r>
            <a:endParaRPr lang="en-US" sz="1350" dirty="0"/>
          </a:p>
        </p:txBody>
      </p:sp>
      <p:sp>
        <p:nvSpPr>
          <p:cNvPr id="15" name="india-card"/>
          <p:cNvSpPr/>
          <p:nvPr/>
        </p:nvSpPr>
        <p:spPr>
          <a:xfrm>
            <a:off x="6583680" y="1298448"/>
            <a:ext cx="5038344" cy="3931920"/>
          </a:xfrm>
          <a:prstGeom prst="roundRect">
            <a:avLst>
              <a:gd name="adj" fmla="val 2326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0" y="1481328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5E43"/>
                </a:solidFill>
              </a:rPr>
              <a:t>Constraints specific to India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1938528"/>
            <a:ext cx="45262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Dietary observance is a hard filter, not a preference — vegetarian, Jain, halal and vegan.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Price spans two orders of magnitude, from ₹150 street food to ₹2,000+ fine dining.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single "Indian" label conflates Chettinad, Andhra, Kerala, Bengali, Punjabi, Gujarati, Rajasthani, Mughlai and Hyderabadi cuisines.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Locality matters more than city — a diner in T. Nagar will not cross Chennai for dinner.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66928" y="539496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B5E43"/>
                </a:solidFill>
              </a:rPr>
              <a:t>Each signal fails differently — which is precisely why combining them works.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6A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657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A five-layer hybrid framework</a:t>
            </a:r>
            <a:endParaRPr lang="en-US" sz="3200" dirty="0"/>
          </a:p>
        </p:txBody>
      </p:sp>
      <p:sp>
        <p:nvSpPr>
          <p:cNvPr id="3" name="layer-0"/>
          <p:cNvSpPr/>
          <p:nvPr/>
        </p:nvSpPr>
        <p:spPr>
          <a:xfrm>
            <a:off x="566928" y="1371600"/>
            <a:ext cx="2011680" cy="1783080"/>
          </a:xfrm>
          <a:prstGeom prst="roundRect">
            <a:avLst>
              <a:gd name="adj" fmla="val 5128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76656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76656" y="17373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E12"/>
                </a:solidFill>
              </a:rPr>
              <a:t>Filter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76656" y="2075688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Hard constraints applied conjunctively — city, diet, budget, cuisine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587752" y="19659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722"/>
                </a:solidFill>
              </a:rPr>
              <a:t>›</a:t>
            </a:r>
            <a:endParaRPr lang="en-US" sz="2000" dirty="0"/>
          </a:p>
        </p:txBody>
      </p:sp>
      <p:sp>
        <p:nvSpPr>
          <p:cNvPr id="8" name="layer-1"/>
          <p:cNvSpPr/>
          <p:nvPr/>
        </p:nvSpPr>
        <p:spPr>
          <a:xfrm>
            <a:off x="2825496" y="1371600"/>
            <a:ext cx="2011680" cy="1783080"/>
          </a:xfrm>
          <a:prstGeom prst="roundRect">
            <a:avLst>
              <a:gd name="adj" fmla="val 5128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935224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35224" y="17373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E12"/>
                </a:solidFill>
              </a:rPr>
              <a:t>Score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935224" y="2075688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Three signals scored independently: TF-IDF, item–item CF, VADER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9659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722"/>
                </a:solidFill>
              </a:rPr>
              <a:t>›</a:t>
            </a:r>
            <a:endParaRPr lang="en-US" sz="2000" dirty="0"/>
          </a:p>
        </p:txBody>
      </p:sp>
      <p:sp>
        <p:nvSpPr>
          <p:cNvPr id="13" name="layer-2"/>
          <p:cNvSpPr/>
          <p:nvPr/>
        </p:nvSpPr>
        <p:spPr>
          <a:xfrm>
            <a:off x="5084064" y="1371600"/>
            <a:ext cx="2011680" cy="1783080"/>
          </a:xfrm>
          <a:prstGeom prst="roundRect">
            <a:avLst>
              <a:gd name="adj" fmla="val 5128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93792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193792" y="17373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E12"/>
                </a:solidFill>
              </a:rPr>
              <a:t>Normalise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193792" y="2075688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Min–max to [0,1] so no signal dominates by scale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104888" y="19659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722"/>
                </a:solidFill>
              </a:rPr>
              <a:t>›</a:t>
            </a:r>
            <a:endParaRPr lang="en-US" sz="2000" dirty="0"/>
          </a:p>
        </p:txBody>
      </p:sp>
      <p:sp>
        <p:nvSpPr>
          <p:cNvPr id="18" name="layer-3"/>
          <p:cNvSpPr/>
          <p:nvPr/>
        </p:nvSpPr>
        <p:spPr>
          <a:xfrm>
            <a:off x="7342632" y="1371600"/>
            <a:ext cx="2011680" cy="1783080"/>
          </a:xfrm>
          <a:prstGeom prst="roundRect">
            <a:avLst>
              <a:gd name="adj" fmla="val 5128"/>
            </a:avLst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52360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452360" y="17373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Fuse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452360" y="2075688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3EE"/>
                </a:solidFill>
              </a:rPr>
              <a:t>Weighted sum using the user’s own NNLS weights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363456" y="1965960"/>
            <a:ext cx="246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87722"/>
                </a:solidFill>
              </a:rPr>
              <a:t>›</a:t>
            </a:r>
            <a:endParaRPr lang="en-US" sz="2000" dirty="0"/>
          </a:p>
        </p:txBody>
      </p:sp>
      <p:sp>
        <p:nvSpPr>
          <p:cNvPr id="23" name="layer-4"/>
          <p:cNvSpPr/>
          <p:nvPr/>
        </p:nvSpPr>
        <p:spPr>
          <a:xfrm>
            <a:off x="9601200" y="1371600"/>
            <a:ext cx="2011680" cy="1783080"/>
          </a:xfrm>
          <a:prstGeom prst="roundRect">
            <a:avLst>
              <a:gd name="adj" fmla="val 5128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10928" y="1463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710928" y="1737360"/>
            <a:ext cx="1792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45E12"/>
                </a:solidFill>
              </a:rPr>
              <a:t>Explain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710928" y="2075688"/>
            <a:ext cx="179222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1"/>
                </a:solidFill>
              </a:rPr>
              <a:t>Dominant term mapped to a plain-English reason</a:t>
            </a:r>
            <a:endParaRPr lang="en-US" sz="1100" dirty="0"/>
          </a:p>
        </p:txBody>
      </p:sp>
      <p:sp>
        <p:nvSpPr>
          <p:cNvPr id="27" name="eq-card"/>
          <p:cNvSpPr/>
          <p:nvPr/>
        </p:nvSpPr>
        <p:spPr>
          <a:xfrm>
            <a:off x="566928" y="3429000"/>
            <a:ext cx="11057839" cy="1005840"/>
          </a:xfrm>
          <a:prstGeom prst="roundRect">
            <a:avLst>
              <a:gd name="adj" fmla="val 9091"/>
            </a:avLst>
          </a:prstGeom>
          <a:solidFill>
            <a:srgbClr val="2A1E14"/>
          </a:solidFill>
          <a:ln w="12700">
            <a:solidFill>
              <a:srgbClr val="2A1E1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49808" y="3584448"/>
            <a:ext cx="1069207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</a:rPr>
              <a:t>S</a:t>
            </a:r>
            <a:r>
              <a:rPr lang="en-US" sz="1100" dirty="0">
                <a:solidFill>
                  <a:srgbClr val="9C8C7C"/>
                </a:solidFill>
              </a:rPr>
              <a:t>hybrid</a:t>
            </a:r>
            <a:r>
              <a:rPr lang="en-US" sz="2100" dirty="0">
                <a:solidFill>
                  <a:srgbClr val="FFFFFF"/>
                </a:solidFill>
              </a:rPr>
              <a:t>(u, i)  =  </a:t>
            </a:r>
            <a:r>
              <a:rPr lang="en-US" sz="2100" b="1" dirty="0">
                <a:solidFill>
                  <a:srgbClr val="E87722"/>
                </a:solidFill>
              </a:rPr>
              <a:t>w₁(u)</a:t>
            </a:r>
            <a:r>
              <a:rPr lang="en-US" sz="2100" dirty="0">
                <a:solidFill>
                  <a:srgbClr val="FFFFFF"/>
                </a:solidFill>
              </a:rPr>
              <a:t>·S</a:t>
            </a:r>
            <a:r>
              <a:rPr lang="en-US" sz="1100" dirty="0">
                <a:solidFill>
                  <a:srgbClr val="9C8C7C"/>
                </a:solidFill>
              </a:rPr>
              <a:t>content</a:t>
            </a:r>
            <a:r>
              <a:rPr lang="en-US" sz="2100" dirty="0">
                <a:solidFill>
                  <a:srgbClr val="FFFFFF"/>
                </a:solidFill>
              </a:rPr>
              <a:t>  +  </a:t>
            </a:r>
            <a:r>
              <a:rPr lang="en-US" sz="2100" b="1" dirty="0">
                <a:solidFill>
                  <a:srgbClr val="E87722"/>
                </a:solidFill>
              </a:rPr>
              <a:t>w₂(u)</a:t>
            </a:r>
            <a:r>
              <a:rPr lang="en-US" sz="2100" dirty="0">
                <a:solidFill>
                  <a:srgbClr val="FFFFFF"/>
                </a:solidFill>
              </a:rPr>
              <a:t>·S</a:t>
            </a:r>
            <a:r>
              <a:rPr lang="en-US" sz="1100" dirty="0">
                <a:solidFill>
                  <a:srgbClr val="9C8C7C"/>
                </a:solidFill>
              </a:rPr>
              <a:t>collab</a:t>
            </a:r>
            <a:r>
              <a:rPr lang="en-US" sz="2100" dirty="0">
                <a:solidFill>
                  <a:srgbClr val="FFFFFF"/>
                </a:solidFill>
              </a:rPr>
              <a:t>  +  </a:t>
            </a:r>
            <a:r>
              <a:rPr lang="en-US" sz="2100" b="1" dirty="0">
                <a:solidFill>
                  <a:srgbClr val="E87722"/>
                </a:solidFill>
              </a:rPr>
              <a:t>w₃(u)</a:t>
            </a:r>
            <a:r>
              <a:rPr lang="en-US" sz="2100" dirty="0">
                <a:solidFill>
                  <a:srgbClr val="FFFFFF"/>
                </a:solidFill>
              </a:rPr>
              <a:t>·S</a:t>
            </a:r>
            <a:r>
              <a:rPr lang="en-US" sz="1100" dirty="0">
                <a:solidFill>
                  <a:srgbClr val="9C8C7C"/>
                </a:solidFill>
              </a:rPr>
              <a:t>sentiment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749808" y="4005072"/>
            <a:ext cx="1069207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D4A017"/>
                </a:solidFill>
              </a:rPr>
              <a:t>The weights carry the subscript (u) — they belong to the individual user, not to the system.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566928" y="4663440"/>
            <a:ext cx="543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43"/>
                </a:solidFill>
              </a:rPr>
              <a:t>Cold start handled, not ignored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" y="4956048"/>
            <a:ext cx="543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With no history the collaborative term is undefined, so a popularity prior stands in and the explanation says so explicitly.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6187288" y="4663440"/>
            <a:ext cx="543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5E43"/>
                </a:solidFill>
              </a:rPr>
              <a:t>Why normalisation is not optional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187288" y="4956048"/>
            <a:ext cx="543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chemeClr val="tx1"/>
                </a:solidFill>
              </a:rPr>
              <a:t>The three arms produce different natural ranges; without rescaling, the widest-spread arm would win for reasons unrelated to quality.</a:t>
            </a:r>
            <a:endParaRPr lang="en-US" sz="12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6A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657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is new in this work</a:t>
            </a:r>
            <a:endParaRPr lang="en-US" sz="3200" dirty="0"/>
          </a:p>
        </p:txBody>
      </p:sp>
      <p:sp>
        <p:nvSpPr>
          <p:cNvPr id="3" name="contrib-1"/>
          <p:cNvSpPr/>
          <p:nvPr/>
        </p:nvSpPr>
        <p:spPr>
          <a:xfrm>
            <a:off x="566928" y="1298448"/>
            <a:ext cx="5376672" cy="4160520"/>
          </a:xfrm>
          <a:prstGeom prst="roundRect">
            <a:avLst>
              <a:gd name="adj" fmla="val 2198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4" name="c1-dot"/>
          <p:cNvSpPr/>
          <p:nvPr/>
        </p:nvSpPr>
        <p:spPr>
          <a:xfrm>
            <a:off x="841248" y="1536192"/>
            <a:ext cx="420624" cy="420624"/>
          </a:xfrm>
          <a:prstGeom prst="ellipse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408176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45E12"/>
                </a:solidFill>
              </a:rPr>
              <a:t>Personalised fusion weights</a:t>
            </a:r>
            <a:endParaRPr lang="en-US" sz="1800" dirty="0"/>
          </a:p>
        </p:txBody>
      </p:sp>
      <p:sp>
        <p:nvSpPr>
          <p:cNvPr id="7" name="c1-eq"/>
          <p:cNvSpPr/>
          <p:nvPr/>
        </p:nvSpPr>
        <p:spPr>
          <a:xfrm>
            <a:off x="841248" y="2103120"/>
            <a:ext cx="482803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2688" y="2240280"/>
            <a:ext cx="46451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w(u)  =  arg min ‖A(u) w − b(u)‖²</a:t>
            </a:r>
            <a:r>
              <a:rPr lang="en-US" sz="1400" b="1" dirty="0">
                <a:solidFill>
                  <a:srgbClr val="C45E12"/>
                </a:solidFill>
              </a:rPr>
              <a:t>     subject to  w ≥ 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880360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Estimated separately for every user by Non-Negative Least Squares over that user’s own rating history.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Replaces the single fixed blend that every comparable hybrid applies to the whole population.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Non-negativity is essential: a negative coefficient would mean a better match lowers preference — uninterpretable, and it would invalidate the explanations.</a:t>
            </a:r>
            <a:endParaRPr lang="en-US" sz="1300" dirty="0"/>
          </a:p>
        </p:txBody>
      </p:sp>
      <p:sp>
        <p:nvSpPr>
          <p:cNvPr id="10" name="contrib-2"/>
          <p:cNvSpPr/>
          <p:nvPr/>
        </p:nvSpPr>
        <p:spPr>
          <a:xfrm>
            <a:off x="6245352" y="1298448"/>
            <a:ext cx="5376672" cy="4160520"/>
          </a:xfrm>
          <a:prstGeom prst="roundRect">
            <a:avLst>
              <a:gd name="adj" fmla="val 2198"/>
            </a:avLst>
          </a:prstGeom>
          <a:solidFill>
            <a:srgbClr val="FFF4E8"/>
          </a:solidFill>
          <a:ln w="12700">
            <a:solidFill>
              <a:srgbClr val="FFF4E8"/>
            </a:solidFill>
            <a:prstDash val="solid"/>
          </a:ln>
        </p:spPr>
      </p:sp>
      <p:sp>
        <p:nvSpPr>
          <p:cNvPr id="11" name="c2-dot"/>
          <p:cNvSpPr/>
          <p:nvPr/>
        </p:nvSpPr>
        <p:spPr>
          <a:xfrm>
            <a:off x="6519672" y="1536192"/>
            <a:ext cx="420624" cy="420624"/>
          </a:xfrm>
          <a:prstGeom prst="ellipse">
            <a:avLst/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19672" y="1536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554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5E43"/>
                </a:solidFill>
              </a:rPr>
              <a:t>Explainability layer</a:t>
            </a:r>
            <a:endParaRPr lang="en-US" sz="1800" dirty="0"/>
          </a:p>
        </p:txBody>
      </p:sp>
      <p:sp>
        <p:nvSpPr>
          <p:cNvPr id="14" name="c2-quote"/>
          <p:cNvSpPr/>
          <p:nvPr/>
        </p:nvSpPr>
        <p:spPr>
          <a:xfrm>
            <a:off x="6519672" y="2103120"/>
            <a:ext cx="4828032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29400" y="2194560"/>
            <a:ext cx="4608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1B5E43"/>
                </a:solidFill>
              </a:rPr>
              <a:t>“Recommended because you prefer South Indian cuisine, and it’s highly rated in T. Nagar.”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519672" y="2880360"/>
            <a:ext cx="4828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dominant term of the fusion equation is mapped to a plain-English reason.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Cold-start suggestions state openly that they rest on popularity, not on personalised evidence — the user is never misled about the basis.</a:t>
            </a:r>
            <a:endParaRPr lang="en-US" sz="13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Explanations improve trust independently of accuracy, so the facility is justified even where no metric moves.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" y="559612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A6A58"/>
                </a:solidFill>
              </a:rPr>
              <a:t>The hybrid architecture itself follows prior work — these two extensions are the original contribution.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6A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657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tx1"/>
                </a:solidFill>
              </a:rPr>
              <a:t>The working system</a:t>
            </a:r>
            <a:endParaRPr lang="en-US" sz="3200" dirty="0"/>
          </a:p>
        </p:txBody>
      </p:sp>
      <p:pic>
        <p:nvPicPr>
          <p:cNvPr id="3" name="Image 0" descr="C:\Users\rohit\OneDrive\Desktop\recomm\Figures\fig_4_2_expl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25880"/>
            <a:ext cx="5760720" cy="410565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66928" y="546811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A6A58"/>
                </a:solidFill>
              </a:rPr>
              <a:t>Filters narrow Chennai + South Indian to four results; every card carries its generated reason</a:t>
            </a:r>
            <a:endParaRPr lang="en-US" sz="1150" dirty="0"/>
          </a:p>
        </p:txBody>
      </p:sp>
      <p:pic>
        <p:nvPicPr>
          <p:cNvPr id="5" name="Image 1" descr="C:\Users\rohit\OneDrive\Desktop\recomm\Figures\fig_4_3_de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392" y="1325880"/>
            <a:ext cx="5056632" cy="1700784"/>
          </a:xfrm>
          <a:prstGeom prst="rect">
            <a:avLst/>
          </a:prstGeom>
        </p:spPr>
      </p:pic>
      <p:sp>
        <p:nvSpPr>
          <p:cNvPr id="6" name="math-card"/>
          <p:cNvSpPr/>
          <p:nvPr/>
        </p:nvSpPr>
        <p:spPr>
          <a:xfrm>
            <a:off x="6565392" y="3218688"/>
            <a:ext cx="5056632" cy="1234440"/>
          </a:xfrm>
          <a:prstGeom prst="roundRect">
            <a:avLst>
              <a:gd name="adj" fmla="val 7407"/>
            </a:avLst>
          </a:prstGeom>
          <a:solidFill>
            <a:srgbClr val="2A1E14"/>
          </a:solidFill>
          <a:ln w="12700">
            <a:solidFill>
              <a:srgbClr val="2A1E1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6675120" y="3364992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FFFFFF"/>
                </a:solidFill>
              </a:rPr>
              <a:t>0.6 × 0.40  +  0.4 × 1.00  =  </a:t>
            </a:r>
            <a:r>
              <a:rPr lang="en-US" sz="1900" b="1" dirty="0">
                <a:solidFill>
                  <a:srgbClr val="E87722"/>
                </a:solidFill>
              </a:rPr>
              <a:t>0.64</a:t>
            </a:r>
            <a:endParaRPr lang="en-US" sz="1900" dirty="0"/>
          </a:p>
        </p:txBody>
      </p:sp>
      <p:sp>
        <p:nvSpPr>
          <p:cNvPr id="8" name="Text 4"/>
          <p:cNvSpPr txBox="1"/>
          <p:nvPr/>
        </p:nvSpPr>
        <p:spPr>
          <a:xfrm>
            <a:off x="6675120" y="3785616"/>
            <a:ext cx="4837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9BCAD"/>
                </a:solidFill>
              </a:rPr>
              <a:t>The hybrid arithmetic is exposed to the user, not hidden behind a single score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565392" y="4572000"/>
            <a:ext cx="50566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60 sample restaurants across 12 cities and 19 cuisines.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TF-IDF index and item–item similarity matrix computed live in the browser — no server required.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chemeClr val="tx1"/>
                </a:solidFill>
              </a:rPr>
              <a:t>Listings are clearly labelled sample data; addresses, hours and contact details were deliberately not fabricated.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6A58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66928" y="365760"/>
            <a:ext cx="11057839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chemeClr val="bg1"/>
                </a:solidFill>
              </a:rPr>
              <a:t>Evaluation protocol and what remains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1280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017"/>
                </a:solidFill>
              </a:rPr>
              <a:t>9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66928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D4C6"/>
                </a:solidFill>
              </a:rPr>
              <a:t>models trained</a:t>
            </a:r>
            <a:endParaRPr lang="en-US" sz="1150" dirty="0"/>
          </a:p>
        </p:txBody>
      </p:sp>
      <p:sp>
        <p:nvSpPr>
          <p:cNvPr id="5" name="Text 3"/>
          <p:cNvSpPr txBox="1"/>
          <p:nvPr/>
        </p:nvSpPr>
        <p:spPr>
          <a:xfrm>
            <a:off x="2139696" y="1280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017"/>
                </a:solidFill>
              </a:rPr>
              <a:t>7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2139696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D4C6"/>
                </a:solidFill>
              </a:rPr>
              <a:t>metrics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712464" y="1280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D4A017"/>
                </a:solidFill>
              </a:rPr>
              <a:t>2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3712464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D4C6"/>
                </a:solidFill>
              </a:rPr>
              <a:t>datasets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2860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Rating prediction: </a:t>
            </a:r>
            <a:r>
              <a:rPr lang="en-US" sz="1250" dirty="0">
                <a:solidFill>
                  <a:srgbClr val="D8E8DF"/>
                </a:solidFill>
              </a:rPr>
              <a:t>Global Mean and Popularity baselines vs. tuned SVD, NMF, item-based and user-based KNN.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66928" y="28529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Sentiment: </a:t>
            </a:r>
            <a:r>
              <a:rPr lang="en-US" sz="1250" dirty="0">
                <a:solidFill>
                  <a:srgbClr val="D8E8DF"/>
                </a:solidFill>
              </a:rPr>
              <a:t>VADER against Multinomial Naïve Bayes and Logistic Regression.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66928" y="32552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Metrics: </a:t>
            </a:r>
            <a:r>
              <a:rPr lang="en-US" sz="1250" dirty="0">
                <a:solidFill>
                  <a:srgbClr val="D8E8DF"/>
                </a:solidFill>
              </a:rPr>
              <a:t>RMSE and MAE alongside Precision@K, Recall@K, F1@K, NDCG@K and Coverage — error and ranking families reported together, because they are known to disagree.</a:t>
            </a:r>
            <a:endParaRPr lang="en-US" sz="1250" dirty="0"/>
          </a:p>
        </p:txBody>
      </p:sp>
      <p:sp>
        <p:nvSpPr>
          <p:cNvPr id="12" name="status-card"/>
          <p:cNvSpPr/>
          <p:nvPr/>
        </p:nvSpPr>
        <p:spPr>
          <a:xfrm>
            <a:off x="6035040" y="1261872"/>
            <a:ext cx="5586984" cy="1371600"/>
          </a:xfrm>
          <a:prstGeom prst="roundRect">
            <a:avLst>
              <a:gd name="adj" fmla="val 6667"/>
            </a:avLst>
          </a:prstGeom>
          <a:solidFill>
            <a:srgbClr val="1F6B4D"/>
          </a:solidFill>
          <a:ln w="12700">
            <a:solidFill>
              <a:srgbClr val="1F6B4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17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</a:rPr>
              <a:t>Status: results pending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5564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6F2EC"/>
                </a:solidFill>
              </a:rPr>
              <a:t>The pipeline and all nine models are implemented; the evaluation notebooks have yet to be executed, so no figures are quoted here rather than estimated.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788920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</a:rPr>
              <a:t>Known limitations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35040" y="3108960"/>
            <a:ext cx="5586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8E8DF"/>
                </a:solidFill>
              </a:rPr>
              <a:t>The per-user interaction layer is synthetic — public catalogues carry no rating history.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8E8DF"/>
                </a:solidFill>
              </a:rPr>
              <a:t>Evaluation is offline only; no user study was conducted.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8E8DF"/>
                </a:solidFill>
              </a:rPr>
              <a:t>Weight personalisation needs history, so it cannot help the cold-start users who need it most.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035040" y="4462272"/>
            <a:ext cx="5586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</a:rPr>
              <a:t>Future scope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4773168"/>
            <a:ext cx="55869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8E8DF"/>
                </a:solidFill>
              </a:rPr>
              <a:t>Authentic interaction data to remove the principal threat to validity.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8E8DF"/>
                </a:solidFill>
              </a:rPr>
              <a:t>A fine-tuned transformer in place of the VADER lexicon.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8E8DF"/>
                </a:solidFill>
              </a:rPr>
              <a:t>Context-aware signals — time of day, occasion, group size.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66928" y="437083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</a:rPr>
              <a:t>Project deliverables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" y="469087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8E8DF"/>
                </a:solidFill>
              </a:rPr>
              <a:t>Project report and research paper draft.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8E8DF"/>
                </a:solidFill>
              </a:rPr>
              <a:t>Two Colab notebooks — full pipeline and novel extensions.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D8E8DF"/>
                </a:solidFill>
              </a:rPr>
              <a:t>A deployed, browser-based web interface.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5760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Thank you  ·  Questions welcome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3856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D4A017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diaBites">
  <a:themeElements>
    <a:clrScheme name="IndiaBites">
      <a:dk1>
        <a:srgbClr val="2A1E14"/>
      </a:dk1>
      <a:lt1>
        <a:srgbClr val="FFFFFF"/>
      </a:lt1>
      <a:dk2>
        <a:srgbClr val="14402F"/>
      </a:dk2>
      <a:lt2>
        <a:srgbClr val="FFF4E8"/>
      </a:lt2>
      <a:accent1>
        <a:srgbClr val="E87722"/>
      </a:accent1>
      <a:accent2>
        <a:srgbClr val="1B5E43"/>
      </a:accent2>
      <a:accent3>
        <a:srgbClr val="D4A017"/>
      </a:accent3>
      <a:accent4>
        <a:srgbClr val="C45E12"/>
      </a:accent4>
      <a:accent5>
        <a:srgbClr val="7A6A58"/>
      </a:accent5>
      <a:accent6>
        <a:srgbClr val="C0392B"/>
      </a:accent6>
      <a:hlink>
        <a:srgbClr val="C45E12"/>
      </a:hlink>
      <a:folHlink>
        <a:srgbClr val="7A6A58"/>
      </a:folHlink>
    </a:clrScheme>
    <a:fontScheme name="IndiaBite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1270</Words>
  <Application>Microsoft Office PowerPoint</Application>
  <PresentationFormat>Widescreen</PresentationFormat>
  <Paragraphs>120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IndiaBites</vt:lpstr>
      <vt:lpstr>IndiaBites</vt:lpstr>
      <vt:lpstr>Why single-signal recommenders fail here</vt:lpstr>
      <vt:lpstr>A five-layer hybrid framework</vt:lpstr>
      <vt:lpstr>What is new in this work</vt:lpstr>
      <vt:lpstr>The working system</vt:lpstr>
      <vt:lpstr>Evaluation protocol and what remains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IndiaBites - Hybrid Restaurant Recommendation System</dc:title>
  <dc:subject>PptxGenJS Presentation</dc:subject>
  <dc:creator>IndiaBites Project Team</dc:creator>
  <cp:lastModifiedBy>S Rohit</cp:lastModifiedBy>
  <cp:revision>1</cp:revision>
  <dcterms:created xsi:type="dcterms:W3CDTF">2026-10-20T17:50:05Z</dcterms:created>
  <dcterms:modified xsi:type="dcterms:W3CDTF">2026-10-20T17:52:59Z</dcterms:modified>
</cp:coreProperties>
</file>